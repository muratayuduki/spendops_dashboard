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SpendOps_Dashboard_&#25216;&#34899;&#35299;&#35500;.docx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75488"/>
            <a:ext cx="2423160" cy="329184"/>
          </a:xfrm>
          <a:prstGeom prst="roundRect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4231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1713"/>
                </a:solidFill>
                <a:latin typeface="Noto Sans JP"/>
                <a:ea typeface="Noto Sans JP"/>
              </a:rPr>
              <a:t>展示用｜約20分｜自由閲覧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61872"/>
            <a:ext cx="685800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Noto Sans JP"/>
                <a:ea typeface="Noto Sans JP"/>
              </a:rPr>
              <a:t>SpendOps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Noto Sans JP"/>
                <a:ea typeface="Noto Sans JP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907792"/>
            <a:ext cx="67208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DFFF78"/>
                </a:solidFill>
                <a:latin typeface="Noto Sans JP"/>
                <a:ea typeface="Noto Sans JP"/>
              </a:rPr>
              <a:t>支払いを、1つの画面で振り返る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685032"/>
            <a:ext cx="6629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7DED9"/>
                </a:solidFill>
                <a:latin typeface="Noto Sans JP"/>
                <a:ea typeface="Noto Sans JP"/>
              </a:rPr>
              <a:t>CSVを読み込む → 月ごとに比較 → 次の行動を決める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8" y="685800"/>
            <a:ext cx="3429000" cy="5212080"/>
          </a:xfrm>
          <a:prstGeom prst="roundRect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9640" y="1280160"/>
            <a:ext cx="2468880" cy="2468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88" y="1435608"/>
            <a:ext cx="2157984" cy="2157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4069080"/>
            <a:ext cx="2880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1713"/>
                </a:solidFill>
                <a:latin typeface="Noto Sans JP"/>
                <a:ea typeface="Noto Sans JP"/>
              </a:rPr>
              <a:t>明細を集める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00032" y="4434840"/>
            <a:ext cx="731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1713"/>
                </a:solidFill>
                <a:latin typeface="Noto Sans JP"/>
                <a:ea typeface="Noto Sans JP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846320"/>
            <a:ext cx="2880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1713"/>
                </a:solidFill>
                <a:latin typeface="Noto Sans JP"/>
                <a:ea typeface="Noto Sans JP"/>
              </a:rPr>
              <a:t>気づきを行動へ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5010912"/>
            <a:ext cx="6766560" cy="658368"/>
          </a:xfrm>
          <a:prstGeom prst="roundRect">
            <a:avLst/>
          </a:prstGeom>
          <a:solidFill>
            <a:srgbClr val="243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138928"/>
            <a:ext cx="6327648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7DED9"/>
                </a:solidFill>
                <a:latin typeface="Noto Sans JP"/>
                <a:ea typeface="Noto Sans JP"/>
              </a:rPr>
              <a:t>現在はAWS基盤を停止中。実装内容と設計判断を資料で展示します。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344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2AC"/>
                </a:solidFill>
                <a:latin typeface="Noto Sans JP"/>
                <a:ea typeface="Noto Sans JP"/>
              </a:rPr>
              <a:t>SpendOps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6510528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2AC"/>
                </a:solidFill>
                <a:latin typeface="Noto Sans JP"/>
                <a:ea typeface="Noto Sans JP"/>
              </a:rPr>
              <a:t>目安 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10528"/>
            <a:ext cx="10241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2AC"/>
                </a:solidFill>
                <a:latin typeface="Noto Sans JP"/>
                <a:ea typeface="Noto Sans JP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02336"/>
            <a:ext cx="1280160" cy="329184"/>
          </a:xfrm>
          <a:prstGeom prst="roundRect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2801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713"/>
                </a:solidFill>
                <a:latin typeface="Noto Sans JP"/>
                <a:ea typeface="Noto Sans JP"/>
              </a:rPr>
              <a:t>01｜課題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81360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1713"/>
                </a:solidFill>
                <a:latin typeface="Noto Sans JP"/>
                <a:ea typeface="Noto Sans JP"/>
              </a:rPr>
              <a:t>「今月どうだった？」が、支払い先ごとに分かれている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591056"/>
            <a:ext cx="1065276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8736C"/>
                </a:solidFill>
                <a:latin typeface="Noto Sans JP"/>
                <a:ea typeface="Noto Sans JP"/>
              </a:rPr>
              <a:t>明細の形式や締め日が違うため、全体像をつかむまでに手間がかかります。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423160"/>
            <a:ext cx="23774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23160"/>
            <a:ext cx="237744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1713"/>
                </a:solidFill>
                <a:latin typeface="Noto Sans JP"/>
                <a:ea typeface="Noto Sans JP"/>
              </a:rPr>
              <a:t>PayPay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90672" y="2706624"/>
            <a:ext cx="969264" cy="822960"/>
          </a:xfrm>
          <a:prstGeom prst="line">
            <a:avLst/>
          </a:prstGeom>
          <a:ln w="15240">
            <a:solidFill>
              <a:srgbClr val="AAB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3246120"/>
            <a:ext cx="23774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246120"/>
            <a:ext cx="237744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1713"/>
                </a:solidFill>
                <a:latin typeface="Noto Sans JP"/>
                <a:ea typeface="Noto Sans JP"/>
              </a:rPr>
              <a:t>JCB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90672" y="3529584"/>
            <a:ext cx="969264" cy="0"/>
          </a:xfrm>
          <a:prstGeom prst="line">
            <a:avLst/>
          </a:prstGeom>
          <a:ln w="15240">
            <a:solidFill>
              <a:srgbClr val="AAB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3232" y="4069080"/>
            <a:ext cx="23774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069080"/>
            <a:ext cx="237744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1713"/>
                </a:solidFill>
                <a:latin typeface="Noto Sans JP"/>
                <a:ea typeface="Noto Sans JP"/>
              </a:rPr>
              <a:t>三井住友VISA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090672" y="3529584"/>
            <a:ext cx="969264" cy="822960"/>
          </a:xfrm>
          <a:prstGeom prst="line">
            <a:avLst/>
          </a:prstGeom>
          <a:ln w="15240">
            <a:solidFill>
              <a:srgbClr val="AAB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986784" y="2852928"/>
            <a:ext cx="1371600" cy="1371600"/>
          </a:xfrm>
          <a:prstGeom prst="ellipse">
            <a:avLst/>
          </a:prstGeom>
          <a:solidFill>
            <a:srgbClr val="10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6784" y="3218688"/>
            <a:ext cx="1371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FFF78"/>
                </a:solidFill>
                <a:latin typeface="Noto Sans JP"/>
                <a:ea typeface="Noto Sans JP"/>
              </a:rPr>
              <a:t>ばらばら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40680" y="3529584"/>
            <a:ext cx="868680" cy="0"/>
          </a:xfrm>
          <a:prstGeom prst="line">
            <a:avLst/>
          </a:prstGeom>
          <a:ln w="27940">
            <a:solidFill>
              <a:srgbClr val="1017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28232" y="2359152"/>
            <a:ext cx="4892040" cy="2880360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697480"/>
            <a:ext cx="411480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713"/>
                </a:solidFill>
                <a:latin typeface="Noto Sans JP"/>
                <a:ea typeface="Noto Sans JP"/>
              </a:rPr>
              <a:t>必要なのは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713"/>
                </a:solidFill>
                <a:latin typeface="Noto Sans JP"/>
                <a:ea typeface="Noto Sans JP"/>
              </a:rPr>
              <a:t>“同じ見方”</a:t>
            </a:r>
          </a:p>
        </p:txBody>
      </p:sp>
      <p:sp>
        <p:nvSpPr>
          <p:cNvPr id="20" name="Oval 19"/>
          <p:cNvSpPr/>
          <p:nvPr/>
        </p:nvSpPr>
        <p:spPr>
          <a:xfrm>
            <a:off x="7114032" y="4187952"/>
            <a:ext cx="109728" cy="109728"/>
          </a:xfrm>
          <a:prstGeom prst="ellipse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3488" y="4069080"/>
            <a:ext cx="3346704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713"/>
                </a:solidFill>
                <a:latin typeface="Noto Sans JP"/>
                <a:ea typeface="Noto Sans JP"/>
              </a:rPr>
              <a:t>合計を1つにする</a:t>
            </a:r>
          </a:p>
        </p:txBody>
      </p:sp>
      <p:sp>
        <p:nvSpPr>
          <p:cNvPr id="22" name="Oval 21"/>
          <p:cNvSpPr/>
          <p:nvPr/>
        </p:nvSpPr>
        <p:spPr>
          <a:xfrm>
            <a:off x="7114032" y="4572000"/>
            <a:ext cx="109728" cy="109728"/>
          </a:xfrm>
          <a:prstGeom prst="ellipse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4453128"/>
            <a:ext cx="3346704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713"/>
                </a:solidFill>
                <a:latin typeface="Noto Sans JP"/>
                <a:ea typeface="Noto Sans JP"/>
              </a:rPr>
              <a:t>前月や目安と比べる</a:t>
            </a:r>
          </a:p>
        </p:txBody>
      </p:sp>
      <p:sp>
        <p:nvSpPr>
          <p:cNvPr id="24" name="Oval 23"/>
          <p:cNvSpPr/>
          <p:nvPr/>
        </p:nvSpPr>
        <p:spPr>
          <a:xfrm>
            <a:off x="7114032" y="4956048"/>
            <a:ext cx="109728" cy="109728"/>
          </a:xfrm>
          <a:prstGeom prst="ellipse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3488" y="4837176"/>
            <a:ext cx="3346704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713"/>
                </a:solidFill>
                <a:latin typeface="Noto Sans JP"/>
                <a:ea typeface="Noto Sans JP"/>
              </a:rPr>
              <a:t>使いすぎた分野を見つける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D9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SpendOps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6510528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目安 1.5分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10528"/>
            <a:ext cx="10241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02336"/>
            <a:ext cx="1280160" cy="329184"/>
          </a:xfrm>
          <a:prstGeom prst="roundRect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2801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713"/>
                </a:solidFill>
                <a:latin typeface="Noto Sans JP"/>
                <a:ea typeface="Noto Sans JP"/>
              </a:rPr>
              <a:t>02｜解決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81360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Noto Sans JP"/>
                <a:ea typeface="Noto Sans JP"/>
              </a:rPr>
              <a:t>3つのCSVを、1つの月次レポートへ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591056"/>
            <a:ext cx="1065276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7DED9"/>
                </a:solidFill>
                <a:latin typeface="Noto Sans JP"/>
                <a:ea typeface="Noto Sans JP"/>
              </a:rPr>
              <a:t>対応対象：PayPay、JCB、三井住友VISA。銀行CSVは今回の対象外です。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96312"/>
            <a:ext cx="2331720" cy="585216"/>
          </a:xfrm>
          <a:prstGeom prst="roundRect">
            <a:avLst/>
          </a:prstGeom>
          <a:solidFill>
            <a:srgbClr val="243027"/>
          </a:solidFill>
          <a:ln w="12700">
            <a:solidFill>
              <a:srgbClr val="485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96312"/>
            <a:ext cx="233172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</a:rPr>
              <a:t>PayPay.csv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337560"/>
            <a:ext cx="2331720" cy="585216"/>
          </a:xfrm>
          <a:prstGeom prst="roundRect">
            <a:avLst/>
          </a:prstGeom>
          <a:solidFill>
            <a:srgbClr val="243027"/>
          </a:solidFill>
          <a:ln w="12700">
            <a:solidFill>
              <a:srgbClr val="485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33172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</a:rPr>
              <a:t>JCB.csv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178808"/>
            <a:ext cx="2331720" cy="585216"/>
          </a:xfrm>
          <a:prstGeom prst="roundRect">
            <a:avLst/>
          </a:prstGeom>
          <a:solidFill>
            <a:srgbClr val="243027"/>
          </a:solidFill>
          <a:ln w="12700">
            <a:solidFill>
              <a:srgbClr val="485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78808"/>
            <a:ext cx="233172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</a:rPr>
              <a:t>VISA.csv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3611880"/>
            <a:ext cx="914400" cy="0"/>
          </a:xfrm>
          <a:prstGeom prst="line">
            <a:avLst/>
          </a:prstGeom>
          <a:ln w="33020">
            <a:solidFill>
              <a:srgbClr val="DFF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233672" y="2971800"/>
            <a:ext cx="1325880" cy="1325880"/>
          </a:xfrm>
          <a:prstGeom prst="ellipse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3672" y="3255264"/>
            <a:ext cx="13258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1713"/>
                </a:solidFill>
                <a:latin typeface="Noto Sans JP"/>
                <a:ea typeface="Noto Sans JP"/>
              </a:rPr>
              <a:t>共通形式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1713"/>
                </a:solidFill>
                <a:latin typeface="Noto Sans JP"/>
                <a:ea typeface="Noto Sans JP"/>
              </a:rPr>
              <a:t>へ変換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50992" y="3611880"/>
            <a:ext cx="749808" cy="0"/>
          </a:xfrm>
          <a:prstGeom prst="line">
            <a:avLst/>
          </a:prstGeom>
          <a:ln w="33020">
            <a:solidFill>
              <a:srgbClr val="DFF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28816" y="2194560"/>
            <a:ext cx="4892040" cy="3493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94392" y="2395728"/>
            <a:ext cx="1097280" cy="329184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94392" y="2395728"/>
            <a:ext cx="10972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1713"/>
                </a:solidFill>
                <a:latin typeface="Noto Sans JP"/>
                <a:ea typeface="Noto Sans JP"/>
              </a:rPr>
              <a:t>表示例（デモ）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523744"/>
            <a:ext cx="2468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8736C"/>
                </a:solidFill>
                <a:latin typeface="Noto Sans JP"/>
                <a:ea typeface="Noto Sans JP"/>
              </a:rPr>
              <a:t>2026年6月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2962656"/>
            <a:ext cx="2011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36C"/>
                </a:solidFill>
                <a:latin typeface="Noto Sans JP"/>
                <a:ea typeface="Noto Sans JP"/>
              </a:rPr>
              <a:t>支出合計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218688"/>
            <a:ext cx="2788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01713"/>
                </a:solidFill>
                <a:latin typeface="Noto Sans JP"/>
                <a:ea typeface="Noto Sans JP"/>
              </a:rPr>
              <a:t>86,420</a:t>
            </a:r>
            <a:r>
              <a:rPr sz="1600" b="1">
                <a:solidFill>
                  <a:srgbClr val="101713"/>
                </a:solidFill>
                <a:latin typeface="Noto Sans JP"/>
                <a:ea typeface="Noto Sans JP"/>
              </a:rPr>
              <a:t>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3227832"/>
            <a:ext cx="1417320" cy="329184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3227832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D63A5"/>
                </a:solidFill>
                <a:latin typeface="Noto Sans JP"/>
                <a:ea typeface="Noto Sans JP"/>
              </a:rPr>
              <a:t>前月比 -8.4%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005072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36C"/>
                </a:solidFill>
                <a:latin typeface="Noto Sans JP"/>
                <a:ea typeface="Noto Sans JP"/>
              </a:rPr>
              <a:t>カテゴリ上位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370832"/>
            <a:ext cx="65836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01713"/>
                </a:solidFill>
                <a:latin typeface="Noto Sans JP"/>
                <a:ea typeface="Noto Sans JP"/>
              </a:rPr>
              <a:t>食費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4407408"/>
            <a:ext cx="2331720" cy="118872"/>
          </a:xfrm>
          <a:prstGeom prst="rect">
            <a:avLst/>
          </a:prstGeom>
          <a:solidFill>
            <a:srgbClr val="E2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4407408"/>
            <a:ext cx="1912010" cy="118872"/>
          </a:xfrm>
          <a:prstGeom prst="rect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85832" y="4361688"/>
            <a:ext cx="9601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1713"/>
                </a:solidFill>
                <a:latin typeface="Noto Sans JP"/>
                <a:ea typeface="Noto Sans JP"/>
              </a:rPr>
              <a:t>24,800円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4718304"/>
            <a:ext cx="65836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01713"/>
                </a:solidFill>
                <a:latin typeface="Noto Sans JP"/>
                <a:ea typeface="Noto Sans JP"/>
              </a:rPr>
              <a:t>日用品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35240" y="4754880"/>
            <a:ext cx="2331720" cy="118872"/>
          </a:xfrm>
          <a:prstGeom prst="rect">
            <a:avLst/>
          </a:prstGeom>
          <a:solidFill>
            <a:srgbClr val="E2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35240" y="4754880"/>
            <a:ext cx="1259128" cy="118872"/>
          </a:xfrm>
          <a:prstGeom prst="rect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5832" y="4709160"/>
            <a:ext cx="9601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1713"/>
                </a:solidFill>
                <a:latin typeface="Noto Sans JP"/>
                <a:ea typeface="Noto Sans JP"/>
              </a:rPr>
              <a:t>16,300円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5065776"/>
            <a:ext cx="65836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01713"/>
                </a:solidFill>
                <a:latin typeface="Noto Sans JP"/>
                <a:ea typeface="Noto Sans JP"/>
              </a:rPr>
              <a:t>交通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5102352"/>
            <a:ext cx="2331720" cy="118872"/>
          </a:xfrm>
          <a:prstGeom prst="rect">
            <a:avLst/>
          </a:prstGeom>
          <a:solidFill>
            <a:srgbClr val="E2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35240" y="5102352"/>
            <a:ext cx="886053" cy="118872"/>
          </a:xfrm>
          <a:prstGeom prst="rect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85832" y="5056632"/>
            <a:ext cx="9601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1713"/>
                </a:solidFill>
                <a:latin typeface="Noto Sans JP"/>
                <a:ea typeface="Noto Sans JP"/>
              </a:rPr>
              <a:t>11,600円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344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8368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2AC"/>
                </a:solidFill>
                <a:latin typeface="Noto Sans JP"/>
                <a:ea typeface="Noto Sans JP"/>
              </a:rPr>
              <a:t>SpendOps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6510528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2AC"/>
                </a:solidFill>
                <a:latin typeface="Noto Sans JP"/>
                <a:ea typeface="Noto Sans JP"/>
              </a:rPr>
              <a:t>目安 2分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510528"/>
            <a:ext cx="10241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2AC"/>
                </a:solidFill>
                <a:latin typeface="Noto Sans JP"/>
                <a:ea typeface="Noto Sans JP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02336"/>
            <a:ext cx="1435608" cy="329184"/>
          </a:xfrm>
          <a:prstGeom prst="roundRect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435608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713"/>
                </a:solidFill>
                <a:latin typeface="Noto Sans JP"/>
                <a:ea typeface="Noto Sans JP"/>
              </a:rPr>
              <a:t>03｜使い方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81360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1713"/>
                </a:solidFill>
                <a:latin typeface="Noto Sans JP"/>
                <a:ea typeface="Noto Sans JP"/>
              </a:rPr>
              <a:t>使い方は3ステップ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591056"/>
            <a:ext cx="1065276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8736C"/>
                </a:solidFill>
                <a:latin typeface="Noto Sans JP"/>
                <a:ea typeface="Noto Sans JP"/>
              </a:rPr>
              <a:t>読み込みから分析まではブラウザ内で完結。ログイン後は必要な集計だけを保存できます。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04288"/>
            <a:ext cx="34290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532888"/>
            <a:ext cx="566928" cy="566928"/>
          </a:xfrm>
          <a:prstGeom prst="ellipse">
            <a:avLst/>
          </a:prstGeom>
          <a:solidFill>
            <a:srgbClr val="10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642616"/>
            <a:ext cx="5669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FFF78"/>
                </a:solidFill>
                <a:latin typeface="Noto Sans JP"/>
                <a:ea typeface="Noto Sans JP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3273552"/>
            <a:ext cx="2834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01713"/>
                </a:solidFill>
                <a:latin typeface="Noto Sans JP"/>
                <a:ea typeface="Noto Sans JP"/>
              </a:rPr>
              <a:t>CSVを用意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886200"/>
            <a:ext cx="27889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8736C"/>
                </a:solidFill>
                <a:latin typeface="Noto Sans JP"/>
                <a:ea typeface="Noto Sans JP"/>
              </a:rPr>
              <a:t>各サービスから利用明細CSVを出力します。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" y="4800600"/>
            <a:ext cx="1874519" cy="329184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4800600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1713"/>
                </a:solidFill>
                <a:latin typeface="Noto Sans JP"/>
                <a:ea typeface="Noto Sans JP"/>
              </a:rPr>
              <a:t>書き換え不要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69663" y="3840480"/>
            <a:ext cx="274321" cy="0"/>
          </a:xfrm>
          <a:prstGeom prst="line">
            <a:avLst/>
          </a:prstGeom>
          <a:ln w="30480">
            <a:solidFill>
              <a:srgbClr val="B8D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07992" y="2304288"/>
            <a:ext cx="34290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532888"/>
            <a:ext cx="566928" cy="566928"/>
          </a:xfrm>
          <a:prstGeom prst="ellipse">
            <a:avLst/>
          </a:prstGeom>
          <a:solidFill>
            <a:srgbClr val="10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642616"/>
            <a:ext cx="5669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FFF78"/>
                </a:solidFill>
                <a:latin typeface="Noto Sans JP"/>
                <a:ea typeface="Noto Sans JP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024" y="3273552"/>
            <a:ext cx="2834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01713"/>
                </a:solidFill>
                <a:latin typeface="Noto Sans JP"/>
                <a:ea typeface="Noto Sans JP"/>
              </a:rPr>
              <a:t>ファイルを選ぶ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024" y="3886200"/>
            <a:ext cx="27889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8736C"/>
                </a:solidFill>
                <a:latin typeface="Noto Sans JP"/>
                <a:ea typeface="Noto Sans JP"/>
              </a:rPr>
              <a:t>画面でCSVを選ぶと、形式を自動判定します。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64024" y="4800600"/>
            <a:ext cx="1874519" cy="329184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64024" y="4800600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1713"/>
                </a:solidFill>
                <a:latin typeface="Noto Sans JP"/>
                <a:ea typeface="Noto Sans JP"/>
              </a:rPr>
              <a:t>原本は送信しない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64424" y="3840480"/>
            <a:ext cx="274320" cy="0"/>
          </a:xfrm>
          <a:prstGeom prst="line">
            <a:avLst/>
          </a:prstGeom>
          <a:ln w="30480">
            <a:solidFill>
              <a:srgbClr val="B8D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302752" y="2304288"/>
            <a:ext cx="34290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22208" y="2532888"/>
            <a:ext cx="566928" cy="566928"/>
          </a:xfrm>
          <a:prstGeom prst="ellipse">
            <a:avLst/>
          </a:prstGeom>
          <a:solidFill>
            <a:srgbClr val="10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8" y="2642616"/>
            <a:ext cx="5669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FFF78"/>
                </a:solidFill>
                <a:latin typeface="Noto Sans JP"/>
                <a:ea typeface="Noto Sans JP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8784" y="3273552"/>
            <a:ext cx="2834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01713"/>
                </a:solidFill>
                <a:latin typeface="Noto Sans JP"/>
                <a:ea typeface="Noto Sans JP"/>
              </a:rPr>
              <a:t>レポートを見る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8784" y="3886200"/>
            <a:ext cx="27889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8736C"/>
                </a:solidFill>
                <a:latin typeface="Noto Sans JP"/>
                <a:ea typeface="Noto Sans JP"/>
              </a:rPr>
              <a:t>月別・年間・全期間を切り替えて確認します。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58784" y="4800600"/>
            <a:ext cx="1874519" cy="329184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58784" y="4800600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1713"/>
                </a:solidFill>
                <a:latin typeface="Noto Sans JP"/>
                <a:ea typeface="Noto Sans JP"/>
              </a:rPr>
              <a:t>比較と次の行動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5614416"/>
            <a:ext cx="10972800" cy="585216"/>
          </a:xfrm>
          <a:prstGeom prst="roundRect">
            <a:avLst/>
          </a:prstGeom>
          <a:solidFill>
            <a:srgbClr val="10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769864"/>
            <a:ext cx="10561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FFF78"/>
                </a:solidFill>
                <a:latin typeface="Noto Sans JP"/>
                <a:ea typeface="Noto Sans JP"/>
              </a:rPr>
              <a:t>ポイント：</a:t>
            </a:r>
            <a:r>
              <a:rPr sz="1300" b="0">
                <a:solidFill>
                  <a:srgbClr val="FFFFFF"/>
                </a:solidFill>
                <a:latin typeface="Noto Sans JP"/>
                <a:ea typeface="Noto Sans JP"/>
              </a:rPr>
              <a:t>「アップロード」と表示しても、CSV原本は端末内で解析されます。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D9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SpendOps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6510528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目安 1.5分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10528"/>
            <a:ext cx="10241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02336"/>
            <a:ext cx="1435608" cy="329184"/>
          </a:xfrm>
          <a:prstGeom prst="roundRect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435608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713"/>
                </a:solidFill>
                <a:latin typeface="Noto Sans JP"/>
                <a:ea typeface="Noto Sans JP"/>
              </a:rPr>
              <a:t>04｜読み方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81360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1713"/>
                </a:solidFill>
                <a:latin typeface="Noto Sans JP"/>
                <a:ea typeface="Noto Sans JP"/>
              </a:rPr>
              <a:t>最初に見るのは、合計・比較・内訳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591056"/>
            <a:ext cx="1065276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8736C"/>
                </a:solidFill>
                <a:latin typeface="Noto Sans JP"/>
                <a:ea typeface="Noto Sans JP"/>
              </a:rPr>
              <a:t>月別を中心に、必要に応じて年間・全期間へ広げます。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240280"/>
            <a:ext cx="7635240" cy="3730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496312"/>
            <a:ext cx="841248" cy="329184"/>
          </a:xfrm>
          <a:prstGeom prst="roundRect">
            <a:avLst/>
          </a:prstGeom>
          <a:solidFill>
            <a:srgbClr val="10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96312"/>
            <a:ext cx="841248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FFF78"/>
                </a:solidFill>
                <a:latin typeface="Noto Sans JP"/>
                <a:ea typeface="Noto Sans JP"/>
              </a:rPr>
              <a:t>月別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65376" y="2496312"/>
            <a:ext cx="841248" cy="329184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65376" y="2496312"/>
            <a:ext cx="841248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1713"/>
                </a:solidFill>
                <a:latin typeface="Noto Sans JP"/>
                <a:ea typeface="Noto Sans JP"/>
              </a:rPr>
              <a:t>年間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0632" y="2496312"/>
            <a:ext cx="960120" cy="329184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2496312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1713"/>
                </a:solidFill>
                <a:latin typeface="Noto Sans JP"/>
                <a:ea typeface="Noto Sans JP"/>
              </a:rPr>
              <a:t>全期間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2008" y="2496312"/>
            <a:ext cx="1078992" cy="329184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22008" y="2496312"/>
            <a:ext cx="107899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1713"/>
                </a:solidFill>
                <a:latin typeface="Noto Sans JP"/>
                <a:ea typeface="Noto Sans JP"/>
              </a:rPr>
              <a:t>表示例（デモ）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054096"/>
            <a:ext cx="1188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36C"/>
                </a:solidFill>
                <a:latin typeface="Noto Sans JP"/>
                <a:ea typeface="Noto Sans JP"/>
              </a:rPr>
              <a:t>支出合計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337560"/>
            <a:ext cx="23774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713"/>
                </a:solidFill>
                <a:latin typeface="Noto Sans JP"/>
                <a:ea typeface="Noto Sans JP"/>
              </a:rPr>
              <a:t>86,420</a:t>
            </a:r>
            <a:r>
              <a:rPr sz="1500" b="1">
                <a:solidFill>
                  <a:srgbClr val="101713"/>
                </a:solidFill>
                <a:latin typeface="Noto Sans JP"/>
                <a:ea typeface="Noto Sans JP"/>
              </a:rPr>
              <a:t>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2112" y="3054096"/>
            <a:ext cx="822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36C"/>
                </a:solidFill>
                <a:latin typeface="Noto Sans JP"/>
                <a:ea typeface="Noto Sans JP"/>
              </a:rPr>
              <a:t>比較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2968" y="3374136"/>
            <a:ext cx="2560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63A5"/>
                </a:solidFill>
                <a:latin typeface="Noto Sans JP"/>
                <a:ea typeface="Noto Sans JP"/>
              </a:rPr>
              <a:t>前月より 7,880円少ない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133087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36C"/>
                </a:solidFill>
                <a:latin typeface="Noto Sans JP"/>
                <a:ea typeface="Noto Sans JP"/>
              </a:rPr>
              <a:t>カテゴリ内訳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471416"/>
            <a:ext cx="69494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1713"/>
                </a:solidFill>
                <a:latin typeface="Noto Sans JP"/>
                <a:ea typeface="Noto Sans JP"/>
              </a:rPr>
              <a:t>食費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73936" y="4498848"/>
            <a:ext cx="5074920" cy="109728"/>
          </a:xfrm>
          <a:prstGeom prst="rect">
            <a:avLst/>
          </a:prstGeom>
          <a:solidFill>
            <a:srgbClr val="E9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73936" y="4498848"/>
            <a:ext cx="4364431" cy="109728"/>
          </a:xfrm>
          <a:prstGeom prst="rect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782312"/>
            <a:ext cx="69494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1713"/>
                </a:solidFill>
                <a:latin typeface="Noto Sans JP"/>
                <a:ea typeface="Noto Sans JP"/>
              </a:rPr>
              <a:t>日用品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73936" y="4809744"/>
            <a:ext cx="5074920" cy="109728"/>
          </a:xfrm>
          <a:prstGeom prst="rect">
            <a:avLst/>
          </a:prstGeom>
          <a:solidFill>
            <a:srgbClr val="E9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73936" y="4809744"/>
            <a:ext cx="3044951" cy="109728"/>
          </a:xfrm>
          <a:prstGeom prst="rect">
            <a:avLst/>
          </a:prstGeom>
          <a:solidFill>
            <a:srgbClr val="75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5093207"/>
            <a:ext cx="69494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1713"/>
                </a:solidFill>
                <a:latin typeface="Noto Sans JP"/>
                <a:ea typeface="Noto Sans JP"/>
              </a:rPr>
              <a:t>交通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73936" y="5120640"/>
            <a:ext cx="5074920" cy="109728"/>
          </a:xfrm>
          <a:prstGeom prst="rect">
            <a:avLst/>
          </a:prstGeom>
          <a:solidFill>
            <a:srgbClr val="E9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73936" y="5120640"/>
            <a:ext cx="2131466" cy="109728"/>
          </a:xfrm>
          <a:prstGeom prst="rect">
            <a:avLst/>
          </a:prstGeom>
          <a:solidFill>
            <a:srgbClr val="A7B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5404103"/>
            <a:ext cx="69494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1713"/>
                </a:solidFill>
                <a:latin typeface="Noto Sans JP"/>
                <a:ea typeface="Noto Sans JP"/>
              </a:rPr>
              <a:t>その他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73936" y="5431536"/>
            <a:ext cx="5074920" cy="109728"/>
          </a:xfrm>
          <a:prstGeom prst="rect">
            <a:avLst/>
          </a:prstGeom>
          <a:solidFill>
            <a:srgbClr val="E9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73936" y="5431536"/>
            <a:ext cx="1522475" cy="109728"/>
          </a:xfrm>
          <a:prstGeom prst="rect">
            <a:avLst/>
          </a:prstGeom>
          <a:solidFill>
            <a:srgbClr val="D8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5431536"/>
            <a:ext cx="3246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8736C"/>
                </a:solidFill>
                <a:latin typeface="Noto Sans JP"/>
                <a:ea typeface="Noto Sans JP"/>
              </a:rPr>
              <a:t>→ 明細まで確認し、必要ならカテゴリを修正</a:t>
            </a:r>
          </a:p>
        </p:txBody>
      </p:sp>
      <p:sp>
        <p:nvSpPr>
          <p:cNvPr id="33" name="Oval 32"/>
          <p:cNvSpPr/>
          <p:nvPr/>
        </p:nvSpPr>
        <p:spPr>
          <a:xfrm>
            <a:off x="8887968" y="2633472"/>
            <a:ext cx="109728" cy="109728"/>
          </a:xfrm>
          <a:prstGeom prst="ellipse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2514600"/>
            <a:ext cx="2203704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713"/>
                </a:solidFill>
                <a:latin typeface="Noto Sans JP"/>
                <a:ea typeface="Noto Sans JP"/>
              </a:rPr>
              <a:t>合計：今月の規模</a:t>
            </a:r>
          </a:p>
        </p:txBody>
      </p:sp>
      <p:sp>
        <p:nvSpPr>
          <p:cNvPr id="35" name="Oval 34"/>
          <p:cNvSpPr/>
          <p:nvPr/>
        </p:nvSpPr>
        <p:spPr>
          <a:xfrm>
            <a:off x="8887968" y="3246120"/>
            <a:ext cx="109728" cy="109728"/>
          </a:xfrm>
          <a:prstGeom prst="ellipse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3127248"/>
            <a:ext cx="2203704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713"/>
                </a:solidFill>
                <a:latin typeface="Noto Sans JP"/>
                <a:ea typeface="Noto Sans JP"/>
              </a:rPr>
              <a:t>比較：増減とその理由</a:t>
            </a:r>
          </a:p>
        </p:txBody>
      </p:sp>
      <p:sp>
        <p:nvSpPr>
          <p:cNvPr id="37" name="Oval 36"/>
          <p:cNvSpPr/>
          <p:nvPr/>
        </p:nvSpPr>
        <p:spPr>
          <a:xfrm>
            <a:off x="8887968" y="3858768"/>
            <a:ext cx="109728" cy="109728"/>
          </a:xfrm>
          <a:prstGeom prst="ellipse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3739896"/>
            <a:ext cx="2203704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713"/>
                </a:solidFill>
                <a:latin typeface="Noto Sans JP"/>
                <a:ea typeface="Noto Sans JP"/>
              </a:rPr>
              <a:t>内訳：行動を変える候補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05088" y="4663440"/>
            <a:ext cx="2606040" cy="1024128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24544" y="4855464"/>
            <a:ext cx="2167128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1713"/>
                </a:solidFill>
                <a:latin typeface="Noto Sans JP"/>
                <a:ea typeface="Noto Sans JP"/>
              </a:rPr>
              <a:t>見る順番を固定すると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1713"/>
                </a:solidFill>
                <a:latin typeface="Noto Sans JP"/>
                <a:ea typeface="Noto Sans JP"/>
              </a:rPr>
              <a:t>短時間でも迷いません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D9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8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SpendOps 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6510528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目安 2分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10528"/>
            <a:ext cx="10241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8C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02336"/>
            <a:ext cx="1435608" cy="329184"/>
          </a:xfrm>
          <a:prstGeom prst="roundRect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435608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713"/>
                </a:solidFill>
                <a:latin typeface="Noto Sans JP"/>
                <a:ea typeface="Noto Sans JP"/>
              </a:rPr>
              <a:t>05｜気づき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81360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1713"/>
                </a:solidFill>
                <a:latin typeface="Noto Sans JP"/>
                <a:ea typeface="Noto Sans JP"/>
              </a:rPr>
              <a:t>比較は、平均を見るためではなく行動を決めるため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591056"/>
            <a:ext cx="1065276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8736C"/>
                </a:solidFill>
                <a:latin typeface="Noto Sans JP"/>
                <a:ea typeface="Noto Sans JP"/>
              </a:rPr>
              <a:t>差額・変化・集中しているカテゴリから、次に試せる行動を示します。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774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8736C"/>
                </a:solidFill>
                <a:latin typeface="Noto Sans JP"/>
                <a:ea typeface="Noto Sans JP"/>
              </a:rPr>
              <a:t>今月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70048"/>
            <a:ext cx="2926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01713"/>
                </a:solidFill>
                <a:latin typeface="Noto Sans JP"/>
                <a:ea typeface="Noto Sans JP"/>
              </a:rPr>
              <a:t>86,420</a:t>
            </a:r>
            <a:r>
              <a:rPr sz="1700" b="1">
                <a:solidFill>
                  <a:srgbClr val="101713"/>
                </a:solidFill>
                <a:latin typeface="Noto Sans JP"/>
                <a:ea typeface="Noto Sans JP"/>
              </a:rPr>
              <a:t>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3774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8736C"/>
                </a:solidFill>
                <a:latin typeface="Noto Sans JP"/>
                <a:ea typeface="Noto Sans JP"/>
              </a:rPr>
              <a:t>前月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2191" y="2670048"/>
            <a:ext cx="2926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01713"/>
                </a:solidFill>
                <a:latin typeface="Noto Sans JP"/>
                <a:ea typeface="Noto Sans JP"/>
              </a:rPr>
              <a:t>94,300</a:t>
            </a:r>
            <a:r>
              <a:rPr sz="1700" b="1">
                <a:solidFill>
                  <a:srgbClr val="101713"/>
                </a:solidFill>
                <a:latin typeface="Noto Sans JP"/>
                <a:ea typeface="Noto Sans JP"/>
              </a:rPr>
              <a:t>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9536" y="3584448"/>
            <a:ext cx="6044184" cy="0"/>
          </a:xfrm>
          <a:prstGeom prst="line">
            <a:avLst/>
          </a:prstGeom>
          <a:ln w="25400">
            <a:solidFill>
              <a:srgbClr val="1017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59536" y="3474720"/>
            <a:ext cx="5230368" cy="219456"/>
          </a:xfrm>
          <a:prstGeom prst="rect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3410712"/>
            <a:ext cx="868680" cy="329184"/>
          </a:xfrm>
          <a:prstGeom prst="roundRect">
            <a:avLst/>
          </a:prstGeom>
          <a:solidFill>
            <a:srgbClr val="10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410712"/>
            <a:ext cx="8686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FFF78"/>
                </a:solidFill>
                <a:latin typeface="Noto Sans JP"/>
                <a:ea typeface="Noto Sans JP"/>
              </a:rPr>
              <a:t>-8.4%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9248" y="2331720"/>
            <a:ext cx="3520440" cy="3154680"/>
          </a:xfrm>
          <a:prstGeom prst="roundRect">
            <a:avLst/>
          </a:prstGeom>
          <a:solidFill>
            <a:srgbClr val="10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2651760"/>
            <a:ext cx="2880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FFF78"/>
                </a:solidFill>
                <a:latin typeface="Noto Sans JP"/>
                <a:ea typeface="Noto Sans JP"/>
              </a:rPr>
              <a:t>次に試すこと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3218688"/>
            <a:ext cx="27889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JP"/>
                <a:ea typeface="Noto Sans JP"/>
              </a:rPr>
              <a:t>外食が前月より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JP"/>
                <a:ea typeface="Noto Sans JP"/>
              </a:rPr>
              <a:t>5,600円増えています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28431" y="4206240"/>
            <a:ext cx="2807209" cy="0"/>
          </a:xfrm>
          <a:prstGeom prst="line">
            <a:avLst/>
          </a:prstGeom>
          <a:ln w="12700">
            <a:solidFill>
              <a:srgbClr val="475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28431" y="4443984"/>
            <a:ext cx="27889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7DED9"/>
                </a:solidFill>
                <a:latin typeface="Noto Sans JP"/>
                <a:ea typeface="Noto Sans JP"/>
              </a:rPr>
              <a:t>来週は外食を1回だけ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7DED9"/>
                </a:solidFill>
                <a:latin typeface="Noto Sans JP"/>
                <a:ea typeface="Noto Sans JP"/>
              </a:rPr>
              <a:t>置き換えて変化を確認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779008"/>
            <a:ext cx="6400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36C"/>
                </a:solidFill>
                <a:latin typeface="Noto Sans JP"/>
                <a:ea typeface="Noto Sans JP"/>
              </a:rPr>
              <a:t>※ 表示例。提案は支出データに基づく一般的な振り返りで、金融助言ではありません。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D9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SpendOps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6510528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目安 1.5分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10528"/>
            <a:ext cx="10241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02336"/>
            <a:ext cx="1280160" cy="329184"/>
          </a:xfrm>
          <a:prstGeom prst="roundRect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2801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713"/>
                </a:solidFill>
                <a:latin typeface="Noto Sans JP"/>
                <a:ea typeface="Noto Sans JP"/>
              </a:rPr>
              <a:t>06｜学習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81360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Noto Sans JP"/>
                <a:ea typeface="Noto Sans JP"/>
              </a:rPr>
              <a:t>カテゴリ修正は、次回の手間を減らす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591056"/>
            <a:ext cx="1065276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7DED9"/>
                </a:solidFill>
                <a:latin typeface="Noto Sans JP"/>
                <a:ea typeface="Noto Sans JP"/>
              </a:rPr>
              <a:t>本人が直した分類を、同じ利用先の次回取込へ反映します。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267712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8B2AC"/>
                </a:solidFill>
                <a:latin typeface="Noto Sans JP"/>
                <a:ea typeface="Noto Sans JP"/>
              </a:rPr>
              <a:t>取込直後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606040"/>
            <a:ext cx="3840480" cy="1005840"/>
          </a:xfrm>
          <a:prstGeom prst="roundRect">
            <a:avLst/>
          </a:prstGeom>
          <a:solidFill>
            <a:srgbClr val="243027"/>
          </a:solidFill>
          <a:ln w="12700">
            <a:solidFill>
              <a:srgbClr val="485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83464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JP"/>
                <a:ea typeface="Noto Sans JP"/>
              </a:rPr>
              <a:t>コンビニABC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2907792"/>
            <a:ext cx="868680" cy="329184"/>
          </a:xfrm>
          <a:prstGeom prst="roundRect">
            <a:avLst/>
          </a:prstGeom>
          <a:solidFill>
            <a:srgbClr val="495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2907792"/>
            <a:ext cx="8686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その他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92040" y="3108960"/>
            <a:ext cx="996696" cy="0"/>
          </a:xfrm>
          <a:prstGeom prst="line">
            <a:avLst/>
          </a:prstGeom>
          <a:ln w="31750">
            <a:solidFill>
              <a:srgbClr val="DFF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989320" y="2596896"/>
            <a:ext cx="1024128" cy="1024128"/>
          </a:xfrm>
          <a:prstGeom prst="ellipse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2816352"/>
            <a:ext cx="102412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1713"/>
                </a:solidFill>
                <a:latin typeface="Noto Sans JP"/>
                <a:ea typeface="Noto Sans JP"/>
              </a:rPr>
              <a:t>本人が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1713"/>
                </a:solidFill>
                <a:latin typeface="Noto Sans JP"/>
                <a:ea typeface="Noto Sans JP"/>
              </a:rPr>
              <a:t>修正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14032" y="3108960"/>
            <a:ext cx="777240" cy="0"/>
          </a:xfrm>
          <a:prstGeom prst="line">
            <a:avLst/>
          </a:prstGeom>
          <a:ln w="31750">
            <a:solidFill>
              <a:srgbClr val="DFF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73568" y="2267712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8B2AC"/>
                </a:solidFill>
                <a:latin typeface="Noto Sans JP"/>
                <a:ea typeface="Noto Sans JP"/>
              </a:rPr>
              <a:t>次回から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606040"/>
            <a:ext cx="3438144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283464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1713"/>
                </a:solidFill>
                <a:latin typeface="Noto Sans JP"/>
                <a:ea typeface="Noto Sans JP"/>
              </a:rPr>
              <a:t>コンビニABC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68128" y="2907792"/>
            <a:ext cx="822960" cy="329184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68128" y="2907792"/>
            <a:ext cx="8229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1713"/>
                </a:solidFill>
                <a:latin typeface="Noto Sans JP"/>
                <a:ea typeface="Noto Sans JP"/>
              </a:rPr>
              <a:t>食費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" y="4343400"/>
            <a:ext cx="10561320" cy="1097280"/>
          </a:xfrm>
          <a:prstGeom prst="roundRect">
            <a:avLst/>
          </a:prstGeom>
          <a:solidFill>
            <a:srgbClr val="1A2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992" y="4690872"/>
            <a:ext cx="109728" cy="109728"/>
          </a:xfrm>
          <a:prstGeom prst="ellipse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4572000"/>
            <a:ext cx="974750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oto Sans JP"/>
                <a:ea typeface="Noto Sans JP"/>
              </a:rPr>
              <a:t>ルールは本人単位で保存</a:t>
            </a:r>
          </a:p>
        </p:txBody>
      </p:sp>
      <p:sp>
        <p:nvSpPr>
          <p:cNvPr id="23" name="Oval 22"/>
          <p:cNvSpPr/>
          <p:nvPr/>
        </p:nvSpPr>
        <p:spPr>
          <a:xfrm>
            <a:off x="1078992" y="5001768"/>
            <a:ext cx="109728" cy="109728"/>
          </a:xfrm>
          <a:prstGeom prst="ellipse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98448" y="4882896"/>
            <a:ext cx="974750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oto Sans JP"/>
                <a:ea typeface="Noto Sans JP"/>
              </a:rPr>
              <a:t>利用先は正規化して照合</a:t>
            </a:r>
          </a:p>
        </p:txBody>
      </p:sp>
      <p:sp>
        <p:nvSpPr>
          <p:cNvPr id="25" name="Oval 24"/>
          <p:cNvSpPr/>
          <p:nvPr/>
        </p:nvSpPr>
        <p:spPr>
          <a:xfrm>
            <a:off x="1078992" y="5312664"/>
            <a:ext cx="109728" cy="109728"/>
          </a:xfrm>
          <a:prstGeom prst="ellipse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8448" y="5193792"/>
            <a:ext cx="974750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oto Sans JP"/>
                <a:ea typeface="Noto Sans JP"/>
              </a:rPr>
              <a:t>他ユーザーの分類には影響しない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344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2AC"/>
                </a:solidFill>
                <a:latin typeface="Noto Sans JP"/>
                <a:ea typeface="Noto Sans JP"/>
              </a:rPr>
              <a:t>SpendOps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6510528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2AC"/>
                </a:solidFill>
                <a:latin typeface="Noto Sans JP"/>
                <a:ea typeface="Noto Sans JP"/>
              </a:rPr>
              <a:t>目安 1.5分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10528"/>
            <a:ext cx="10241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2AC"/>
                </a:solidFill>
                <a:latin typeface="Noto Sans JP"/>
                <a:ea typeface="Noto Sans JP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02336"/>
            <a:ext cx="1901952" cy="329184"/>
          </a:xfrm>
          <a:prstGeom prst="roundRect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90195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713"/>
                </a:solidFill>
                <a:latin typeface="Noto Sans JP"/>
                <a:ea typeface="Noto Sans JP"/>
              </a:rPr>
              <a:t>07｜個人情報保護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81360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1713"/>
                </a:solidFill>
                <a:latin typeface="Noto Sans JP"/>
                <a:ea typeface="Noto Sans JP"/>
              </a:rPr>
              <a:t>CSV原本を送らず、必要な情報だけを保存する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591056"/>
            <a:ext cx="1065276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8736C"/>
                </a:solidFill>
                <a:latin typeface="Noto Sans JP"/>
                <a:ea typeface="Noto Sans JP"/>
              </a:rPr>
              <a:t>安全性の中心は「何を守るか」だけでなく、「そもそも持たないか」です。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286000"/>
            <a:ext cx="5239512" cy="3520440"/>
          </a:xfrm>
          <a:prstGeom prst="roundRect">
            <a:avLst/>
          </a:prstGeom>
          <a:solidFill>
            <a:srgbClr val="10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633472"/>
            <a:ext cx="44805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FFF78"/>
                </a:solidFill>
                <a:latin typeface="Noto Sans JP"/>
                <a:ea typeface="Noto Sans JP"/>
              </a:rPr>
              <a:t>端末内に留まる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3108960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8B2AC"/>
                </a:solidFill>
                <a:latin typeface="Noto Sans JP"/>
                <a:ea typeface="Noto Sans JP"/>
              </a:rPr>
              <a:t>クラウドへ送らない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3703320"/>
            <a:ext cx="109728" cy="109728"/>
          </a:xfrm>
          <a:prstGeom prst="ellipse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1016" y="3584448"/>
            <a:ext cx="412394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JP"/>
                <a:ea typeface="Noto Sans JP"/>
              </a:rPr>
              <a:t>CSV原本・ファイル名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4123944"/>
            <a:ext cx="109728" cy="109728"/>
          </a:xfrm>
          <a:prstGeom prst="ellipse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1016" y="4005072"/>
            <a:ext cx="412394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JP"/>
                <a:ea typeface="Noto Sans JP"/>
              </a:rPr>
              <a:t>元の行データ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4544568"/>
            <a:ext cx="109728" cy="109728"/>
          </a:xfrm>
          <a:prstGeom prst="ellipse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4425696"/>
            <a:ext cx="412394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JP"/>
                <a:ea typeface="Noto Sans JP"/>
              </a:rPr>
              <a:t>カード番号・口座情報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4965192"/>
            <a:ext cx="109728" cy="109728"/>
          </a:xfrm>
          <a:prstGeom prst="ellipse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1016" y="4846320"/>
            <a:ext cx="412394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JP"/>
                <a:ea typeface="Noto Sans JP"/>
              </a:rPr>
              <a:t>パスワード・認証コード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286000"/>
            <a:ext cx="5239512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2633472"/>
            <a:ext cx="45262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1713"/>
                </a:solidFill>
                <a:latin typeface="Noto Sans JP"/>
                <a:ea typeface="Noto Sans JP"/>
              </a:rPr>
              <a:t>認証後に保存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3108960"/>
            <a:ext cx="4434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36C"/>
                </a:solidFill>
                <a:latin typeface="Noto Sans JP"/>
                <a:ea typeface="Noto Sans JP"/>
              </a:rPr>
              <a:t>画面復元と集計に必要な最小項目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3703320"/>
            <a:ext cx="109728" cy="109728"/>
          </a:xfrm>
          <a:prstGeom prst="ellipse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3584448"/>
            <a:ext cx="4169663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713"/>
                </a:solidFill>
                <a:latin typeface="Noto Sans JP"/>
                <a:ea typeface="Noto Sans JP"/>
              </a:rPr>
              <a:t>本人ID・日付・金額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4123944"/>
            <a:ext cx="109728" cy="109728"/>
          </a:xfrm>
          <a:prstGeom prst="ellipse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4005072"/>
            <a:ext cx="4169663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713"/>
                </a:solidFill>
                <a:latin typeface="Noto Sans JP"/>
                <a:ea typeface="Noto Sans JP"/>
              </a:rPr>
              <a:t>正規化した利用先・カテゴリ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4544568"/>
            <a:ext cx="109728" cy="109728"/>
          </a:xfrm>
          <a:prstGeom prst="ellipse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425696"/>
            <a:ext cx="4169663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713"/>
                </a:solidFill>
                <a:latin typeface="Noto Sans JP"/>
                <a:ea typeface="Noto Sans JP"/>
              </a:rPr>
              <a:t>取得元・取込ID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4965192"/>
            <a:ext cx="109728" cy="109728"/>
          </a:xfrm>
          <a:prstGeom prst="ellipse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03136" y="4846320"/>
            <a:ext cx="4169663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713"/>
                </a:solidFill>
                <a:latin typeface="Noto Sans JP"/>
                <a:ea typeface="Noto Sans JP"/>
              </a:rPr>
              <a:t>月別集計・分類ルールのハッシュ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007608"/>
            <a:ext cx="1073505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8736C"/>
                </a:solidFill>
                <a:latin typeface="Noto Sans JP"/>
                <a:ea typeface="Noto Sans JP"/>
              </a:rPr>
              <a:t>詳細なデータ項目・暗号化・認証方式は別紙の技術資料で確認できます。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D9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SpendOps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6510528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目安 2分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10528"/>
            <a:ext cx="10241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02336"/>
            <a:ext cx="1591056" cy="329184"/>
          </a:xfrm>
          <a:prstGeom prst="roundRect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59105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713"/>
                </a:solidFill>
                <a:latin typeface="Noto Sans JP"/>
                <a:ea typeface="Noto Sans JP"/>
              </a:rPr>
              <a:t>08｜匿名比較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81360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Noto Sans JP"/>
                <a:ea typeface="Noto Sans JP"/>
              </a:rPr>
              <a:t>実ユーザー比較は「他5人以上・完全月」だけ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591056"/>
            <a:ext cx="1065276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7DED9"/>
                </a:solidFill>
                <a:latin typeface="Noto Sans JP"/>
                <a:ea typeface="Noto Sans JP"/>
              </a:rPr>
              <a:t>条件を満たさないときは、実データを混ぜず「参考例」と明示した合成データへ切り替えます。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04872"/>
            <a:ext cx="3246120" cy="2697480"/>
          </a:xfrm>
          <a:prstGeom prst="roundRect">
            <a:avLst/>
          </a:prstGeom>
          <a:solidFill>
            <a:srgbClr val="243027"/>
          </a:solidFill>
          <a:ln w="12700">
            <a:solidFill>
              <a:srgbClr val="485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697480"/>
            <a:ext cx="26517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8B2AC"/>
                </a:solidFill>
                <a:latin typeface="Noto Sans JP"/>
                <a:ea typeface="Noto Sans JP"/>
              </a:rPr>
              <a:t>比較候補</a:t>
            </a:r>
          </a:p>
        </p:txBody>
      </p:sp>
      <p:sp>
        <p:nvSpPr>
          <p:cNvPr id="8" name="Oval 7"/>
          <p:cNvSpPr/>
          <p:nvPr/>
        </p:nvSpPr>
        <p:spPr>
          <a:xfrm>
            <a:off x="1207008" y="3182112"/>
            <a:ext cx="502920" cy="502920"/>
          </a:xfrm>
          <a:prstGeom prst="ellipse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84248" y="3182112"/>
            <a:ext cx="502920" cy="502920"/>
          </a:xfrm>
          <a:prstGeom prst="ellipse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61488" y="3182112"/>
            <a:ext cx="502920" cy="502920"/>
          </a:xfrm>
          <a:prstGeom prst="ellipse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07008" y="3968496"/>
            <a:ext cx="502920" cy="502920"/>
          </a:xfrm>
          <a:prstGeom prst="ellipse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84248" y="3968496"/>
            <a:ext cx="502920" cy="502920"/>
          </a:xfrm>
          <a:prstGeom prst="ellipse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3968496"/>
            <a:ext cx="502920" cy="502920"/>
          </a:xfrm>
          <a:prstGeom prst="ellipse">
            <a:avLst/>
          </a:prstGeom>
          <a:solidFill>
            <a:srgbClr val="495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754880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8B2AC"/>
                </a:solidFill>
                <a:latin typeface="Noto Sans JP"/>
                <a:ea typeface="Noto Sans JP"/>
              </a:rPr>
              <a:t>本人は除外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61104" y="3749039"/>
            <a:ext cx="877824" cy="0"/>
          </a:xfrm>
          <a:prstGeom prst="line">
            <a:avLst/>
          </a:prstGeom>
          <a:ln w="30480">
            <a:solidFill>
              <a:srgbClr val="DFF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266944" y="3136392"/>
            <a:ext cx="1243584" cy="1243584"/>
          </a:xfrm>
          <a:prstGeom prst="ellipse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6944" y="3502152"/>
            <a:ext cx="124358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1713"/>
                </a:solidFill>
                <a:latin typeface="Noto Sans JP"/>
                <a:ea typeface="Noto Sans JP"/>
              </a:rPr>
              <a:t>判定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29400" y="3749039"/>
            <a:ext cx="850392" cy="0"/>
          </a:xfrm>
          <a:prstGeom prst="line">
            <a:avLst/>
          </a:prstGeom>
          <a:ln w="30480">
            <a:solidFill>
              <a:srgbClr val="DFF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626096" y="2386584"/>
            <a:ext cx="370332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6992" y="2651760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1713"/>
                </a:solidFill>
                <a:latin typeface="Noto Sans JP"/>
                <a:ea typeface="Noto Sans JP"/>
              </a:rPr>
              <a:t>他5人以上 + 完全月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3099816"/>
            <a:ext cx="2057400" cy="329184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099816"/>
            <a:ext cx="20574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1713"/>
                </a:solidFill>
                <a:latin typeface="Noto Sans JP"/>
                <a:ea typeface="Noto Sans JP"/>
              </a:rPr>
              <a:t>匿名集計を表示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6096" y="3886200"/>
            <a:ext cx="3703320" cy="1207008"/>
          </a:xfrm>
          <a:prstGeom prst="roundRect">
            <a:avLst/>
          </a:prstGeom>
          <a:solidFill>
            <a:srgbClr val="243027"/>
          </a:solidFill>
          <a:ln w="12700">
            <a:solidFill>
              <a:srgbClr val="485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36992" y="4151376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JP"/>
                <a:ea typeface="Noto Sans JP"/>
              </a:rPr>
              <a:t>人数不足 / 一部期間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4599432"/>
            <a:ext cx="2057400" cy="329184"/>
          </a:xfrm>
          <a:prstGeom prst="roundRect">
            <a:avLst/>
          </a:prstGeom>
          <a:solidFill>
            <a:srgbClr val="495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599432"/>
            <a:ext cx="20574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参考例（合成）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532120"/>
            <a:ext cx="10506456" cy="530352"/>
          </a:xfrm>
          <a:prstGeom prst="roundRect">
            <a:avLst/>
          </a:prstGeom>
          <a:solidFill>
            <a:srgbClr val="1A2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" y="5669280"/>
            <a:ext cx="10012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7DED9"/>
                </a:solidFill>
                <a:latin typeface="Noto Sans JP"/>
                <a:ea typeface="Noto Sans JP"/>
              </a:rPr>
              <a:t>登録時に匿名集計への利用同意を取得し、比較結果から個人を表示しません。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344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2AC"/>
                </a:solidFill>
                <a:latin typeface="Noto Sans JP"/>
                <a:ea typeface="Noto Sans JP"/>
              </a:rPr>
              <a:t>SpendOps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6510528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2AC"/>
                </a:solidFill>
                <a:latin typeface="Noto Sans JP"/>
                <a:ea typeface="Noto Sans JP"/>
              </a:rPr>
              <a:t>目安 2分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10528"/>
            <a:ext cx="10241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2AC"/>
                </a:solidFill>
                <a:latin typeface="Noto Sans JP"/>
                <a:ea typeface="Noto Sans JP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02336"/>
            <a:ext cx="1280160" cy="329184"/>
          </a:xfrm>
          <a:prstGeom prst="roundRect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2801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713"/>
                </a:solidFill>
                <a:latin typeface="Noto Sans JP"/>
                <a:ea typeface="Noto Sans JP"/>
              </a:rPr>
              <a:t>09｜検証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81360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1713"/>
                </a:solidFill>
                <a:latin typeface="Noto Sans JP"/>
                <a:ea typeface="Noto Sans JP"/>
              </a:rPr>
              <a:t>守りは設計だけでなく、70件の自動テストで確認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591056"/>
            <a:ext cx="1065276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8736C"/>
                </a:solidFill>
                <a:latin typeface="Noto Sans JP"/>
                <a:ea typeface="Noto Sans JP"/>
              </a:rPr>
              <a:t>フロントエンド46件とLambda 24件。正常系・異常系・境界条件を継続確認します。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40864"/>
            <a:ext cx="242316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0" b="1">
                <a:solidFill>
                  <a:srgbClr val="101713"/>
                </a:solidFill>
                <a:latin typeface="Noto Sans JP"/>
                <a:ea typeface="Noto Sans JP"/>
              </a:rPr>
              <a:t>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83280"/>
            <a:ext cx="2331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8736C"/>
                </a:solidFill>
                <a:latin typeface="Noto Sans JP"/>
                <a:ea typeface="Noto Sans JP"/>
              </a:rPr>
              <a:t>自動テスト成功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487168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8736C"/>
                </a:solidFill>
                <a:latin typeface="Noto Sans JP"/>
                <a:ea typeface="Noto Sans JP"/>
              </a:rPr>
              <a:t>フロントエンド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862072"/>
            <a:ext cx="5166360" cy="384048"/>
          </a:xfrm>
          <a:prstGeom prst="roundRect">
            <a:avLst/>
          </a:prstGeom>
          <a:solidFill>
            <a:srgbClr val="E1E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2862072"/>
            <a:ext cx="3395036" cy="384048"/>
          </a:xfrm>
          <a:prstGeom prst="roundRect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9408" y="2834640"/>
            <a:ext cx="731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1713"/>
                </a:solidFill>
                <a:latin typeface="Noto Sans JP"/>
                <a:ea typeface="Noto Sans JP"/>
              </a:rPr>
              <a:t>46件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547872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8736C"/>
                </a:solidFill>
                <a:latin typeface="Noto Sans JP"/>
                <a:ea typeface="Noto Sans JP"/>
              </a:rPr>
              <a:t>Lambda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922776"/>
            <a:ext cx="5166360" cy="384048"/>
          </a:xfrm>
          <a:prstGeom prst="roundRect">
            <a:avLst/>
          </a:prstGeom>
          <a:solidFill>
            <a:srgbClr val="E1E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3922776"/>
            <a:ext cx="1771323" cy="384048"/>
          </a:xfrm>
          <a:prstGeom prst="roundRect">
            <a:avLst/>
          </a:prstGeom>
          <a:solidFill>
            <a:srgbClr val="75A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8" y="3895344"/>
            <a:ext cx="731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1713"/>
                </a:solidFill>
                <a:latin typeface="Noto Sans JP"/>
                <a:ea typeface="Noto Sans JP"/>
              </a:rPr>
              <a:t>24件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617720"/>
            <a:ext cx="10488168" cy="1143000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901184"/>
            <a:ext cx="1280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8736C"/>
                </a:solidFill>
                <a:latin typeface="Noto Sans JP"/>
                <a:ea typeface="Noto Sans JP"/>
              </a:rPr>
              <a:t>確認している例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828032"/>
            <a:ext cx="83210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1713"/>
                </a:solidFill>
                <a:latin typeface="Noto Sans JP"/>
                <a:ea typeface="Noto Sans JP"/>
              </a:rPr>
              <a:t>CSV形式差・文字コード</a:t>
            </a:r>
            <a:r>
              <a:rPr sz="1300" b="0">
                <a:solidFill>
                  <a:srgbClr val="68736C"/>
                </a:solidFill>
                <a:latin typeface="Noto Sans JP"/>
                <a:ea typeface="Noto Sans JP"/>
              </a:rPr>
              <a:t>　/　</a:t>
            </a:r>
            <a:r>
              <a:rPr sz="1300" b="1">
                <a:solidFill>
                  <a:srgbClr val="101713"/>
                </a:solidFill>
                <a:latin typeface="Noto Sans JP"/>
                <a:ea typeface="Noto Sans JP"/>
              </a:rPr>
              <a:t>重複取込</a:t>
            </a:r>
            <a:r>
              <a:rPr sz="1300" b="0">
                <a:solidFill>
                  <a:srgbClr val="68736C"/>
                </a:solidFill>
                <a:latin typeface="Noto Sans JP"/>
                <a:ea typeface="Noto Sans JP"/>
              </a:rPr>
              <a:t>　/　</a:t>
            </a:r>
            <a:r>
              <a:rPr sz="1300" b="1">
                <a:solidFill>
                  <a:srgbClr val="101713"/>
                </a:solidFill>
                <a:latin typeface="Noto Sans JP"/>
                <a:ea typeface="Noto Sans JP"/>
              </a:rPr>
              <a:t>JWT・本人分離</a:t>
            </a:r>
            <a:r>
              <a:rPr sz="1300" b="0">
                <a:solidFill>
                  <a:srgbClr val="68736C"/>
                </a:solidFill>
                <a:latin typeface="Noto Sans JP"/>
                <a:ea typeface="Noto Sans JP"/>
              </a:rPr>
              <a:t>　/　</a:t>
            </a:r>
            <a:r>
              <a:rPr sz="1300" b="1">
                <a:solidFill>
                  <a:srgbClr val="101713"/>
                </a:solidFill>
                <a:latin typeface="Noto Sans JP"/>
                <a:ea typeface="Noto Sans JP"/>
              </a:rPr>
              <a:t>比較の5人条件</a:t>
            </a:r>
            <a:r>
              <a:rPr sz="1300" b="0">
                <a:solidFill>
                  <a:srgbClr val="68736C"/>
                </a:solidFill>
                <a:latin typeface="Noto Sans JP"/>
                <a:ea typeface="Noto Sans JP"/>
              </a:rPr>
              <a:t>　/　</a:t>
            </a:r>
            <a:r>
              <a:rPr sz="1300" b="1">
                <a:solidFill>
                  <a:srgbClr val="101713"/>
                </a:solidFill>
                <a:latin typeface="Noto Sans JP"/>
                <a:ea typeface="Noto Sans JP"/>
              </a:rPr>
              <a:t>分類学習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916168"/>
            <a:ext cx="10241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736C"/>
                </a:solidFill>
                <a:latin typeface="Noto Sans JP"/>
                <a:ea typeface="Noto Sans JP"/>
              </a:rPr>
              <a:t>※ テスト件数は2026年7月23日時点。すべての脅威や端末環境を保証するものではありません。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D9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SpendOps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6510528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目安 1.5分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10528"/>
            <a:ext cx="10241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8C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02336"/>
            <a:ext cx="1435608" cy="329184"/>
          </a:xfrm>
          <a:prstGeom prst="roundRect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435608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713"/>
                </a:solidFill>
                <a:latin typeface="Noto Sans JP"/>
                <a:ea typeface="Noto Sans JP"/>
              </a:rPr>
              <a:t>10｜現在地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81360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1713"/>
                </a:solidFill>
                <a:latin typeface="Noto Sans JP"/>
                <a:ea typeface="Noto Sans JP"/>
              </a:rPr>
              <a:t>実装済み。ただし、現在はクラウド機能を停止中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591056"/>
            <a:ext cx="1065276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8736C"/>
                </a:solidFill>
                <a:latin typeface="Noto Sans JP"/>
                <a:ea typeface="Noto Sans JP"/>
              </a:rPr>
              <a:t>提出後にAWS基盤を削除したため、公開サイト・ログイン・クラウド保存・実ユーザー比較は動作しません。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31720"/>
            <a:ext cx="521208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633472"/>
            <a:ext cx="1143000" cy="329184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33472"/>
            <a:ext cx="11430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713"/>
                </a:solidFill>
                <a:latin typeface="Noto Sans JP"/>
                <a:ea typeface="Noto Sans JP"/>
              </a:rPr>
              <a:t>実装済み</a:t>
            </a:r>
          </a:p>
        </p:txBody>
      </p:sp>
      <p:sp>
        <p:nvSpPr>
          <p:cNvPr id="9" name="Oval 8"/>
          <p:cNvSpPr/>
          <p:nvPr/>
        </p:nvSpPr>
        <p:spPr>
          <a:xfrm>
            <a:off x="1024128" y="3300984"/>
            <a:ext cx="109728" cy="109728"/>
          </a:xfrm>
          <a:prstGeom prst="ellipse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3584" y="3182112"/>
            <a:ext cx="421538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713"/>
                </a:solidFill>
                <a:latin typeface="Noto Sans JP"/>
                <a:ea typeface="Noto Sans JP"/>
              </a:rPr>
              <a:t>3種CSVの解析・正規化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3739896"/>
            <a:ext cx="109728" cy="109728"/>
          </a:xfrm>
          <a:prstGeom prst="ellipse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3621024"/>
            <a:ext cx="421538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713"/>
                </a:solidFill>
                <a:latin typeface="Noto Sans JP"/>
                <a:ea typeface="Noto Sans JP"/>
              </a:rPr>
              <a:t>月別・年間・全期間レポート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4178807"/>
            <a:ext cx="109728" cy="109728"/>
          </a:xfrm>
          <a:prstGeom prst="ellipse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3584" y="4059935"/>
            <a:ext cx="421538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713"/>
                </a:solidFill>
                <a:latin typeface="Noto Sans JP"/>
                <a:ea typeface="Noto Sans JP"/>
              </a:rPr>
              <a:t>Cognito認証・本人別保存</a:t>
            </a:r>
          </a:p>
        </p:txBody>
      </p:sp>
      <p:sp>
        <p:nvSpPr>
          <p:cNvPr id="15" name="Oval 14"/>
          <p:cNvSpPr/>
          <p:nvPr/>
        </p:nvSpPr>
        <p:spPr>
          <a:xfrm>
            <a:off x="1024128" y="4617720"/>
            <a:ext cx="109728" cy="109728"/>
          </a:xfrm>
          <a:prstGeom prst="ellipse">
            <a:avLst/>
          </a:prstGeom>
          <a:solidFill>
            <a:srgbClr val="B8D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" y="4498848"/>
            <a:ext cx="4215383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713"/>
                </a:solidFill>
                <a:latin typeface="Noto Sans JP"/>
                <a:ea typeface="Noto Sans JP"/>
              </a:rPr>
              <a:t>匿名比較・分類修正・学習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331720"/>
            <a:ext cx="5212080" cy="3383280"/>
          </a:xfrm>
          <a:prstGeom prst="roundRect">
            <a:avLst/>
          </a:prstGeom>
          <a:solidFill>
            <a:srgbClr val="10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47104" y="2633472"/>
            <a:ext cx="1298448" cy="329184"/>
          </a:xfrm>
          <a:prstGeom prst="roundRect">
            <a:avLst/>
          </a:prstGeom>
          <a:solidFill>
            <a:srgbClr val="F4D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2633472"/>
            <a:ext cx="1298448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713"/>
                </a:solidFill>
                <a:latin typeface="Noto Sans JP"/>
                <a:ea typeface="Noto Sans JP"/>
              </a:rPr>
              <a:t>現在は停止</a:t>
            </a:r>
          </a:p>
        </p:txBody>
      </p:sp>
      <p:sp>
        <p:nvSpPr>
          <p:cNvPr id="20" name="Oval 19"/>
          <p:cNvSpPr/>
          <p:nvPr/>
        </p:nvSpPr>
        <p:spPr>
          <a:xfrm>
            <a:off x="6565392" y="3300984"/>
            <a:ext cx="109728" cy="109728"/>
          </a:xfrm>
          <a:prstGeom prst="ellipse">
            <a:avLst/>
          </a:prstGeom>
          <a:solidFill>
            <a:srgbClr val="F4D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3182112"/>
            <a:ext cx="4224528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JP"/>
                <a:ea typeface="Noto Sans JP"/>
              </a:rPr>
              <a:t>公開URLと画面配信</a:t>
            </a:r>
          </a:p>
        </p:txBody>
      </p:sp>
      <p:sp>
        <p:nvSpPr>
          <p:cNvPr id="22" name="Oval 21"/>
          <p:cNvSpPr/>
          <p:nvPr/>
        </p:nvSpPr>
        <p:spPr>
          <a:xfrm>
            <a:off x="6565392" y="3739896"/>
            <a:ext cx="109728" cy="109728"/>
          </a:xfrm>
          <a:prstGeom prst="ellipse">
            <a:avLst/>
          </a:prstGeom>
          <a:solidFill>
            <a:srgbClr val="F4D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3621024"/>
            <a:ext cx="4224528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JP"/>
                <a:ea typeface="Noto Sans JP"/>
              </a:rPr>
              <a:t>ログイン・API・クラウド保存</a:t>
            </a:r>
          </a:p>
        </p:txBody>
      </p:sp>
      <p:sp>
        <p:nvSpPr>
          <p:cNvPr id="24" name="Oval 23"/>
          <p:cNvSpPr/>
          <p:nvPr/>
        </p:nvSpPr>
        <p:spPr>
          <a:xfrm>
            <a:off x="6565392" y="4178807"/>
            <a:ext cx="109728" cy="109728"/>
          </a:xfrm>
          <a:prstGeom prst="ellipse">
            <a:avLst/>
          </a:prstGeom>
          <a:solidFill>
            <a:srgbClr val="F4D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4059935"/>
            <a:ext cx="4224528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JP"/>
                <a:ea typeface="Noto Sans JP"/>
              </a:rPr>
              <a:t>実ユーザー平均との差の取得</a:t>
            </a:r>
          </a:p>
        </p:txBody>
      </p:sp>
      <p:sp>
        <p:nvSpPr>
          <p:cNvPr id="26" name="Oval 25"/>
          <p:cNvSpPr/>
          <p:nvPr/>
        </p:nvSpPr>
        <p:spPr>
          <a:xfrm>
            <a:off x="6565392" y="4617720"/>
            <a:ext cx="109728" cy="109728"/>
          </a:xfrm>
          <a:prstGeom prst="ellipse">
            <a:avLst/>
          </a:prstGeom>
          <a:solidFill>
            <a:srgbClr val="F4D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4498848"/>
            <a:ext cx="4224528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JP"/>
                <a:ea typeface="Noto Sans JP"/>
              </a:rPr>
              <a:t>AWS上での再テスト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5907024"/>
            <a:ext cx="10735056" cy="347472"/>
          </a:xfrm>
          <a:prstGeom prst="roundRect">
            <a:avLst/>
          </a:prstGeom>
          <a:solidFill>
            <a:srgbClr val="F4D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961888"/>
            <a:ext cx="1036929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01713"/>
                </a:solidFill>
                <a:latin typeface="Noto Sans JP"/>
                <a:ea typeface="Noto Sans JP"/>
              </a:rPr>
              <a:t>残る主な課題：銀行CSV／返金・取消／二重計上の自動判定／削除API／最終取込警告の画面表示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D9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SpendOps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6510528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目安 2分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10528"/>
            <a:ext cx="10241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36C"/>
                </a:solidFill>
                <a:latin typeface="Noto Sans JP"/>
                <a:ea typeface="Noto Sans JP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02336"/>
            <a:ext cx="1280160" cy="329184"/>
          </a:xfrm>
          <a:prstGeom prst="roundRect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2801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713"/>
                </a:solidFill>
                <a:latin typeface="Noto Sans JP"/>
                <a:ea typeface="Noto Sans JP"/>
              </a:rPr>
              <a:t>11｜評価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881360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Noto Sans JP"/>
                <a:ea typeface="Noto Sans JP"/>
              </a:rPr>
              <a:t>この展示で見ていただきたい4つの視点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591056"/>
            <a:ext cx="1065276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7DED9"/>
                </a:solidFill>
                <a:latin typeface="Noto Sans JP"/>
                <a:ea typeface="Noto Sans JP"/>
              </a:rPr>
              <a:t>機能の多さではなく、理解しやすさ・安心感・行動へのつながりを評価してください。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31720"/>
            <a:ext cx="5175504" cy="987552"/>
          </a:xfrm>
          <a:prstGeom prst="roundRect">
            <a:avLst/>
          </a:prstGeom>
          <a:solidFill>
            <a:srgbClr val="243027"/>
          </a:solidFill>
          <a:ln w="12700">
            <a:solidFill>
              <a:srgbClr val="485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51176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FFF78"/>
                </a:solidFill>
                <a:latin typeface="Noto Sans JP"/>
                <a:ea typeface="Noto Sans JP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2496312"/>
            <a:ext cx="11887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JP"/>
                <a:ea typeface="Noto Sans JP"/>
              </a:rPr>
              <a:t>概要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843784"/>
            <a:ext cx="397763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7DED9"/>
                </a:solidFill>
                <a:latin typeface="Noto Sans JP"/>
                <a:ea typeface="Noto Sans JP"/>
              </a:rPr>
              <a:t>何を解決するものか分かった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2331720"/>
            <a:ext cx="5175504" cy="987552"/>
          </a:xfrm>
          <a:prstGeom prst="roundRect">
            <a:avLst/>
          </a:prstGeom>
          <a:solidFill>
            <a:srgbClr val="243027"/>
          </a:solidFill>
          <a:ln w="12700">
            <a:solidFill>
              <a:srgbClr val="485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551176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FFF78"/>
                </a:solidFill>
                <a:latin typeface="Noto Sans JP"/>
                <a:ea typeface="Noto Sans JP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2496312"/>
            <a:ext cx="11887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JP"/>
                <a:ea typeface="Noto Sans JP"/>
              </a:rPr>
              <a:t>使い方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2843784"/>
            <a:ext cx="397763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7DED9"/>
                </a:solidFill>
                <a:latin typeface="Noto Sans JP"/>
                <a:ea typeface="Noto Sans JP"/>
              </a:rPr>
              <a:t>自分でもCSVを選べそうだと思った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593591"/>
            <a:ext cx="5175504" cy="987552"/>
          </a:xfrm>
          <a:prstGeom prst="roundRect">
            <a:avLst/>
          </a:prstGeom>
          <a:solidFill>
            <a:srgbClr val="243027"/>
          </a:solidFill>
          <a:ln w="12700">
            <a:solidFill>
              <a:srgbClr val="485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1304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FFF78"/>
                </a:solidFill>
                <a:latin typeface="Noto Sans JP"/>
                <a:ea typeface="Noto Sans JP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3758183"/>
            <a:ext cx="11887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JP"/>
                <a:ea typeface="Noto Sans JP"/>
              </a:rPr>
              <a:t>安心感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4105656"/>
            <a:ext cx="397763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7DED9"/>
                </a:solidFill>
                <a:latin typeface="Noto Sans JP"/>
                <a:ea typeface="Noto Sans JP"/>
              </a:rPr>
              <a:t>送る情報・送らない情報が伝わった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593591"/>
            <a:ext cx="5175504" cy="987552"/>
          </a:xfrm>
          <a:prstGeom prst="roundRect">
            <a:avLst/>
          </a:prstGeom>
          <a:solidFill>
            <a:srgbClr val="243027"/>
          </a:solidFill>
          <a:ln w="12700">
            <a:solidFill>
              <a:srgbClr val="485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81304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FFF78"/>
                </a:solidFill>
                <a:latin typeface="Noto Sans JP"/>
                <a:ea typeface="Noto Sans JP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3758183"/>
            <a:ext cx="11887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JP"/>
                <a:ea typeface="Noto Sans JP"/>
              </a:rPr>
              <a:t>有用性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4105656"/>
            <a:ext cx="397763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7DED9"/>
                </a:solidFill>
                <a:latin typeface="Noto Sans JP"/>
                <a:ea typeface="Noto Sans JP"/>
              </a:rPr>
              <a:t>振り返りが次の行動につながりそう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138928"/>
            <a:ext cx="10698480" cy="713232"/>
          </a:xfrm>
          <a:prstGeom prst="roundRect">
            <a:avLst/>
          </a:prstGeom>
          <a:solidFill>
            <a:srgbClr val="DF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303520"/>
            <a:ext cx="101041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1713"/>
                </a:solidFill>
                <a:latin typeface="Noto Sans JP"/>
                <a:ea typeface="Noto Sans JP"/>
                <a:hlinkClick r:id="rId2"/>
              </a:rPr>
              <a:t>技術資料（別紙）を開く　</a:t>
            </a:r>
            <a:r>
              <a:rPr sz="1200" b="0">
                <a:solidFill>
                  <a:srgbClr val="101713"/>
                </a:solidFill>
                <a:latin typeface="Noto Sans JP"/>
                <a:ea typeface="Noto Sans JP"/>
                <a:hlinkClick r:id="rId2"/>
              </a:rPr>
              <a:t>セキュリティ・個人情報保護・技術選定・制約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934456"/>
            <a:ext cx="9966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2AC"/>
                </a:solidFill>
                <a:latin typeface="Noto Sans JP"/>
                <a:ea typeface="Noto Sans JP"/>
              </a:rPr>
              <a:t>Google Drive取込後は、このボタンをGoogle DocsのURLへ差し替えます。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10160">
            <a:solidFill>
              <a:srgbClr val="344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2AC"/>
                </a:solidFill>
                <a:latin typeface="Noto Sans JP"/>
                <a:ea typeface="Noto Sans JP"/>
              </a:rPr>
              <a:t>SpendOps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6510528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2AC"/>
                </a:solidFill>
                <a:latin typeface="Noto Sans JP"/>
                <a:ea typeface="Noto Sans JP"/>
              </a:rPr>
              <a:t>目安 1.5分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10528"/>
            <a:ext cx="10241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2AC"/>
                </a:solidFill>
                <a:latin typeface="Noto Sans JP"/>
                <a:ea typeface="Noto Sans JP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SpendOps Dashboard 展示資料</dc:title>
  <dc:subject>約20分の自由閲覧向け概要・使用方法・評価資料</dc:subject>
  <dc:creator>SpendOps Dashboard project</dc:creator>
  <cp:keywords/>
  <dc:description>Google Slidesへのネイティブ取り込みを前提に作成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